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com/photo-1677442136019-21780ecad99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com/photo-1620712943543-bcc4688e748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com/photo-1555255707-c07966088b7b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com/photo-1518770660439-4636190af47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com/photo-1581090464777-f3220bbe1b8b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com/photo-1677442136019-21780ecad99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com/photo-1526374965328-7f61d4dc18c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com/photo-1504639725590-34d0984388b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com/photo-1558618666-fcd25c85cd64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com/photo-1451187580459-43490279c0fa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55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3200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7B2FFF">
              <a:alpha val="8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PANAVERSITY  ·  AI-101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D4FF"/>
                </a:solidFill>
                <a:effectLst>
                  <a:glow rad="101600">
                    <a:srgbClr val="00D4FF">
                      <a:alpha val="50000"/>
                    </a:srgbClr>
                  </a:glow>
                </a:effectLst>
              </a:rPr>
              <a:t>Agentic AI Fundamentals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371600" y="2029968"/>
            <a:ext cx="6400800" cy="36576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D"/>
                </a:solidFill>
              </a:rPr>
              <a:t>Lecture P011 — From Chatbots to Autonomous AI Agents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FFB3"/>
                </a:solidFill>
              </a:rPr>
              <a:t>Plan · Act · Observe · Learn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45">
              <a:alpha val="80000"/>
            </a:srgbClr>
          </a:solidFill>
          <a:ln w="12700">
            <a:solidFill>
              <a:srgbClr val="0D1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3"/>
                </a:solidFill>
              </a:rPr>
              <a:t>panaversity.org  |  Certified Agentic AI Architect Program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50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461">
              <a:alpha val="80000"/>
            </a:srgbClr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Course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1440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9235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Program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234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Panaversity Certified Agentic AI Architect — AI-101 Foundations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8503920" cy="804672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87452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43000" y="18836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Topics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1945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Modern Python · Agentic AI · n8n Workflows · MCP · RAG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8503920" cy="804672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83464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43000" y="28437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Approach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1546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Theory + hands-on labs, Plan–Act–Observe agent loops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749040"/>
            <a:ext cx="8503920" cy="804672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7947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143000" y="38039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Goal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114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Build context-aware, autonomous AI agents from scratch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48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461">
              <a:alpha val="80000"/>
            </a:srgbClr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an AI Agent?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8503920" cy="105156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00FFB3"/>
                </a:solidFill>
              </a:rPr>
              <a:t>"An AI Agent is an autonomous system that perceives its environment, reasons over context, and takes actions to achieve goals — without step-by-step human instruction."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4160520" cy="283464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848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A8C3"/>
                </a:solidFill>
              </a:rPr>
              <a:t>Traditional LLM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3749040" cy="36576"/>
          </a:xfrm>
          <a:prstGeom prst="rect">
            <a:avLst/>
          </a:prstGeom>
          <a:solidFill>
            <a:srgbClr val="8EA8C3"/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968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›  Responds to prompts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›  Stateless (no memory)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›  Single-turn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0782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›  Passive — waits for input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4160520" cy="283464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0848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AI Agent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0600" y="2487168"/>
            <a:ext cx="37490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968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›  Plans multi-step tasks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090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›  Maintains memory/state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584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›  Loops until goal met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40782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›  Proactive — takes actions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33088" y="3017520"/>
            <a:ext cx="822960" cy="822960"/>
          </a:xfrm>
          <a:prstGeom prst="ellipse">
            <a:avLst/>
          </a:prstGeom>
          <a:solidFill>
            <a:srgbClr val="7B2F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33088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45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461">
              <a:alpha val="80000"/>
            </a:srgbClr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Sense → Think → Act Cycle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388620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005840"/>
            <a:ext cx="822960" cy="822960"/>
          </a:xfrm>
          <a:prstGeom prst="ellipse">
            <a:avLst/>
          </a:prstGeom>
          <a:solidFill>
            <a:srgbClr val="00FFB3">
              <a:alpha val="80000"/>
            </a:srgbClr>
          </a:solidFill>
          <a:ln w="31750">
            <a:solidFill>
              <a:srgbClr val="00FF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B3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00FFB3"/>
                </a:solidFill>
              </a:rPr>
              <a:t>SENSE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2450592"/>
            <a:ext cx="2194560" cy="36576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Perception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Receives inputs: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text, tools,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memory,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17520" y="2834640"/>
            <a:ext cx="4572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651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08960" y="914400"/>
            <a:ext cx="2651760" cy="388620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23360" y="1005840"/>
            <a:ext cx="822960" cy="822960"/>
          </a:xfrm>
          <a:prstGeom prst="ellipse">
            <a:avLst/>
          </a:prstGeom>
          <a:solidFill>
            <a:srgbClr val="00D4FF">
              <a:alpha val="80000"/>
            </a:srgbClr>
          </a:solidFill>
          <a:ln w="3175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00D4FF"/>
                </a:solidFill>
              </a:rPr>
              <a:t>THINK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337560" y="2450592"/>
            <a:ext cx="21945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5603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Reasoning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LLM plans steps,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chooses tools,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generates response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760720" y="2834640"/>
            <a:ext cx="4572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651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852160" y="914400"/>
            <a:ext cx="2651760" cy="388620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005840"/>
            <a:ext cx="822960" cy="822960"/>
          </a:xfrm>
          <a:prstGeom prst="ellipse">
            <a:avLst/>
          </a:prstGeom>
          <a:solidFill>
            <a:srgbClr val="7B2FFF">
              <a:alpha val="80000"/>
            </a:srgbClr>
          </a:solidFill>
          <a:ln w="31750">
            <a:solidFill>
              <a:srgbClr val="7B2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FFF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43600" y="1938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7B2FFF"/>
                </a:solidFill>
              </a:rPr>
              <a:t>ACT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080760" y="2450592"/>
            <a:ext cx="219456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5603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Execution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Runs tools, calls APIs,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updates memory,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produces output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A8C3"/>
                </a:solidFill>
              </a:rPr>
              <a:t>Continuous feedback loop — agent iterates until goal is achieved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50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461">
              <a:alpha val="80000"/>
            </a:srgbClr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Core Components of an AI Agent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120700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1440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8961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LLM Brain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26187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The reasoning engine — interprets instructions, decides next actions, generates responses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120700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8961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F"/>
                </a:solidFill>
              </a:rPr>
              <a:t>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26187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APIs, web search, code execution, file read/write — extend agent capabilities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194560"/>
            <a:ext cx="4206240" cy="120700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304288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43000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B3"/>
                </a:solidFill>
              </a:rPr>
              <a:t>Memory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6517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Short-term (context window) + long-term (vector DB) for persistent knowledge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4206240" cy="120700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304288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77840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Instructions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26517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System prompt / persona — defines the agent's behavior, constraints, and goals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584448"/>
            <a:ext cx="4206240" cy="120700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694176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143000" y="3675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Guardrails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04164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Input/output filters ensuring safety, accuracy, and policy compliance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4206240" cy="120700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694176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577840" y="3675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E6CF"/>
                </a:solidFill>
              </a:rPr>
              <a:t>Handoffs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404164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Routing to specialized sub-agents for complex multi-step tasks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48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461">
              <a:alpha val="80000"/>
            </a:srgbClr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n8n Workflows — Low-Code Agentic AI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663440" cy="402336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96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2FFF"/>
                </a:solidFill>
              </a:rPr>
              <a:t>What is n8n?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n8n is an open-source workflow automation platform that connects apps, APIs, and AI models — without requiring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30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Visual drag-and-drop node editor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496312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505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200+ integrations (Slack, Gmail, GitHub…)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816352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7706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Built-in AI nodes (OpenAI, Anthropic)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136392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0906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Self-hosted or cloud deployment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456432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4107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Triggers: webhooks, cron, events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776472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7307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Connects to MCP servers natively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03520" y="896112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00FFB3">
              <a:alpha val="70000"/>
            </a:srgbClr>
          </a:solidFill>
          <a:ln w="25400">
            <a:solidFill>
              <a:srgbClr val="00FF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89611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Trigger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(Webhook)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1645920"/>
            <a:ext cx="0" cy="310896"/>
          </a:xfrm>
          <a:prstGeom prst="line">
            <a:avLst/>
          </a:prstGeom>
          <a:noFill/>
          <a:ln w="25400">
            <a:solidFill>
              <a:srgbClr val="8EA8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6459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A8C3"/>
                </a:solidFill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3520" y="1993392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00D4FF">
              <a:alpha val="7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99339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(LLM)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40880" y="2743200"/>
            <a:ext cx="0" cy="310896"/>
          </a:xfrm>
          <a:prstGeom prst="line">
            <a:avLst/>
          </a:prstGeom>
          <a:noFill/>
          <a:ln w="25400">
            <a:solidFill>
              <a:srgbClr val="8EA8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274320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A8C3"/>
                </a:solidFill>
              </a:rPr>
              <a:t>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3520" y="3090672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7B2FFF">
              <a:alpha val="70000"/>
            </a:srgbClr>
          </a:solidFill>
          <a:ln w="25400">
            <a:solidFill>
              <a:srgbClr val="7B2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309067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 Call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(API/DB)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40880" y="3840480"/>
            <a:ext cx="0" cy="310896"/>
          </a:xfrm>
          <a:prstGeom prst="line">
            <a:avLst/>
          </a:prstGeom>
          <a:noFill/>
          <a:ln w="25400">
            <a:solidFill>
              <a:srgbClr val="8EA8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38404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A8C3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03520" y="4187952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FD700">
              <a:alpha val="70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418795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(Response)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48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461">
              <a:alpha val="80000"/>
            </a:srgbClr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Context Protocol (MCP)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8503920" cy="804672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87782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4FD"/>
                </a:solidFill>
              </a:rPr>
              <a:t>MCP is an open standard by Anthropic that lets AI models securely connect to external data sources, tools, and services — like a universal plugin system for AI agents.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377440" cy="1005840"/>
          </a:xfrm>
          <a:prstGeom prst="rect">
            <a:avLst/>
          </a:prstGeom>
          <a:solidFill>
            <a:srgbClr val="00D4FF">
              <a:alpha val="7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(Claude / GPT)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377440" cy="1005840"/>
          </a:xfrm>
          <a:prstGeom prst="rect">
            <a:avLst/>
          </a:prstGeom>
          <a:solidFill>
            <a:srgbClr val="7B2FFF">
              <a:alpha val="70000"/>
            </a:srgbClr>
          </a:solidFill>
          <a:ln w="25400">
            <a:solidFill>
              <a:srgbClr val="7B2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288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MCP 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(Host App)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377440" cy="1005840"/>
          </a:xfrm>
          <a:prstGeom prst="rect">
            <a:avLst/>
          </a:prstGeom>
          <a:solidFill>
            <a:srgbClr val="00FFB3">
              <a:alpha val="70000"/>
            </a:srgbClr>
          </a:solidFill>
          <a:ln w="25400">
            <a:solidFill>
              <a:srgbClr val="00FF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288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MCP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(Tool Provider)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2331720"/>
            <a:ext cx="640080" cy="0"/>
          </a:xfrm>
          <a:prstGeom prst="line">
            <a:avLst/>
          </a:prstGeom>
          <a:noFill/>
          <a:ln w="25400">
            <a:solidFill>
              <a:srgbClr val="8EA8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148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A8C3"/>
                </a:solidFill>
              </a:rPr>
              <a:t>⟷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760720" y="2331720"/>
            <a:ext cx="640080" cy="0"/>
          </a:xfrm>
          <a:prstGeom prst="line">
            <a:avLst/>
          </a:prstGeom>
          <a:noFill/>
          <a:ln w="25400">
            <a:solidFill>
              <a:srgbClr val="8EA8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148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A8C3"/>
                </a:solidFill>
              </a:rPr>
              <a:t>⟷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4206240" cy="74980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15468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1546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Secure, scoped access — least-privilege model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206240" cy="74980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15468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31546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Plug-and-play servers for Files, DBs, APIs, Web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4206240" cy="74980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405079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5840" y="405079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Transport: stdio (local) or HTTP+SSE (remote)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4005072"/>
            <a:ext cx="4206240" cy="74980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405079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40680" y="405079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Resources, Prompts, and Tools as 3 primitive types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48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461">
              <a:alpha val="80000"/>
            </a:srgbClr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RAG &amp; Memory in Agentic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160520" cy="402336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96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F"/>
                </a:solidFill>
              </a:rPr>
              <a:t>Retrieval-Augmented Generation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07592"/>
            <a:ext cx="36576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081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FFB3"/>
                </a:solidFill>
              </a:rPr>
              <a:t>1. User query arrives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FFB3"/>
                </a:solidFill>
              </a:rPr>
              <a:t>2. Embed query → vector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3. Search vector DB for relevant docs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4. Inject docs into LLM context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4564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5. LLM generates grounded response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95020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B3"/>
                </a:solidFill>
              </a:rPr>
              <a:t>✅ Reduces hallucination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B3"/>
                </a:solidFill>
              </a:rPr>
              <a:t>✅ Uses up-to-date knowledge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B3"/>
                </a:solidFill>
              </a:rPr>
              <a:t>✅ Cites sources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804672"/>
            <a:ext cx="4160520" cy="402336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896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B3"/>
                </a:solidFill>
              </a:rPr>
              <a:t>Memory Types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307592"/>
            <a:ext cx="3657600" cy="36576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463040"/>
            <a:ext cx="109728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14356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In-Context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01768" y="167335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A8C3"/>
                </a:solidFill>
              </a:rPr>
              <a:t>Active conversation window — fast, limited size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1975104"/>
            <a:ext cx="109728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19476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External (Long-term)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01768" y="218541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A8C3"/>
                </a:solidFill>
              </a:rPr>
              <a:t>Vector DBs (Pinecone, Weaviate) — persistent memory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2487168"/>
            <a:ext cx="109728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24597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Episodic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01768" y="269748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A8C3"/>
                </a:solidFill>
              </a:rPr>
              <a:t>Past interaction summaries — tracks history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2999232"/>
            <a:ext cx="109728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29718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Procedural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01768" y="320954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A8C3"/>
                </a:solidFill>
              </a:rPr>
              <a:t>Stored instructions / workflows reused across tasks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00600" y="3511296"/>
            <a:ext cx="109728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34838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</a:rPr>
              <a:t>Semantic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01768" y="372160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A8C3"/>
                </a:solidFill>
              </a:rPr>
              <a:t>Factual knowledge base — facts + entities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45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461">
              <a:alpha val="80000"/>
            </a:srgbClr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Multi-Agent Systems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896112"/>
            <a:ext cx="2560320" cy="914400"/>
          </a:xfrm>
          <a:prstGeom prst="rect">
            <a:avLst/>
          </a:prstGeom>
          <a:solidFill>
            <a:srgbClr val="7B2FFF">
              <a:alpha val="80000"/>
            </a:srgbClr>
          </a:solidFill>
          <a:ln w="3175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8961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Orchestrator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00D4FF">
              <a:alpha val="65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3172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Research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31620" y="1810512"/>
            <a:ext cx="0" cy="521208"/>
          </a:xfrm>
          <a:prstGeom prst="line">
            <a:avLst/>
          </a:prstGeom>
          <a:noFill/>
          <a:ln w="19050">
            <a:solidFill>
              <a:srgbClr val="8EA8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33172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00FFB3">
              <a:alpha val="65000"/>
            </a:srgbClr>
          </a:solidFill>
          <a:ln w="25400">
            <a:solidFill>
              <a:srgbClr val="00F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33172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💻 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49140" y="1810512"/>
            <a:ext cx="0" cy="521208"/>
          </a:xfrm>
          <a:prstGeom prst="line">
            <a:avLst/>
          </a:prstGeom>
          <a:noFill/>
          <a:ln w="19050">
            <a:solidFill>
              <a:srgbClr val="8EA8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33172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FD700">
              <a:alpha val="65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33172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 Writer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66660" y="1810512"/>
            <a:ext cx="0" cy="521208"/>
          </a:xfrm>
          <a:prstGeom prst="line">
            <a:avLst/>
          </a:prstGeom>
          <a:noFill/>
          <a:ln w="19050">
            <a:solidFill>
              <a:srgbClr val="8EA8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429000"/>
            <a:ext cx="2651760" cy="65836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4290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2FFF"/>
                </a:solidFill>
              </a:rPr>
              <a:t>🗄 Shared Memory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46120" y="3429000"/>
            <a:ext cx="2651760" cy="65836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34290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2FFF"/>
                </a:solidFill>
              </a:rPr>
              <a:t>🛠 Tool Pool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429000"/>
            <a:ext cx="2651760" cy="65836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34290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2FFF"/>
                </a:solidFill>
              </a:rPr>
              <a:t>📡 Message Bus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4224528"/>
            <a:ext cx="8503920" cy="658368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2519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4FD"/>
                </a:solidFill>
              </a:rPr>
              <a:t>Key benefit: Specialized agents collaborate, each excelling at a subtask → better results than a single generalist agent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50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461">
              <a:alpha val="80000"/>
            </a:srgbClr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Summary &amp; Next Steps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04672"/>
            <a:ext cx="5074920" cy="406908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87782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B3"/>
                </a:solidFill>
              </a:rPr>
              <a:t>What You Learned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261872"/>
            <a:ext cx="4572000" cy="36576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71600"/>
            <a:ext cx="182880" cy="18288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33502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AI Agents vs Traditional LLMs — key differences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847088"/>
            <a:ext cx="182880" cy="18288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105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Sense → Think → Act loop and its iterations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322576"/>
            <a:ext cx="182880" cy="18288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286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6 core components: Brain, Tools, Memory, Instructions, Guardrails, Handoffs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98064"/>
            <a:ext cx="182880" cy="18288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7614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n8n for low-code agent workflow automation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73552"/>
            <a:ext cx="182880" cy="18288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2369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MCP — Anthropic's universal AI plugin protocol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182880" cy="18288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7124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RAG for grounded, up-to-date responses + 5 memory types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24528"/>
            <a:ext cx="182880" cy="182880"/>
          </a:xfrm>
          <a:prstGeom prst="ellipse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1879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Multi-agent orchestration for complex tasks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804672"/>
            <a:ext cx="3246120" cy="4069080"/>
          </a:xfrm>
          <a:prstGeom prst="rect">
            <a:avLst/>
          </a:prstGeom>
          <a:solidFill>
            <a:srgbClr val="111B3A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87782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715000" y="1261872"/>
            <a:ext cx="2834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1389888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00D4FF">
              <a:alpha val="6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1389888"/>
            <a:ext cx="502920" cy="658368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138988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P012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389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Python with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Static Typing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0" y="2194560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00D4FF">
              <a:alpha val="6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0" y="2194560"/>
            <a:ext cx="502920" cy="658368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21945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P013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1945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OpenAI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Agents SDK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669280" y="2999232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00D4FF">
              <a:alpha val="6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2999232"/>
            <a:ext cx="502920" cy="658368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299923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P014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299923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Build Your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First Agent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669280" y="3803904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00D4FF">
              <a:alpha val="6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3803904"/>
            <a:ext cx="502920" cy="658368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380390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38039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n8n Hands-on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Workflow Lab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7B2FFF">
              <a:alpha val="7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526280"/>
            <a:ext cx="85953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panaversity.org  |  Your AI future starts here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Panaversity AI-101 | Lecture P011 – Agentic AI Fundamentals</dc:title>
  <dc:subject>PptxGenJS Presentation</dc:subject>
  <dc:creator>Panaversity</dc:creator>
  <cp:lastModifiedBy>Panaversity</cp:lastModifiedBy>
  <cp:revision>1</cp:revision>
  <dcterms:created xsi:type="dcterms:W3CDTF">2026-06-08T19:30:59Z</dcterms:created>
  <dcterms:modified xsi:type="dcterms:W3CDTF">2026-06-08T19:30:59Z</dcterms:modified>
</cp:coreProperties>
</file>